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embeddedFontLst>
    <p:embeddedFont>
      <p:font typeface="Robo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hayet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Roboto-bold.fntdata"/><Relationship Id="rId10" Type="http://schemas.openxmlformats.org/officeDocument/2006/relationships/slide" Target="slides/slide5.xml"/><Relationship Id="rId21" Type="http://schemas.openxmlformats.org/officeDocument/2006/relationships/font" Target="fonts/Roboto-regular.fntdata"/><Relationship Id="rId13" Type="http://schemas.openxmlformats.org/officeDocument/2006/relationships/slide" Target="slides/slide8.xml"/><Relationship Id="rId24" Type="http://schemas.openxmlformats.org/officeDocument/2006/relationships/font" Target="fonts/Roboto-boldItalic.fntdata"/><Relationship Id="rId12" Type="http://schemas.openxmlformats.org/officeDocument/2006/relationships/slide" Target="slides/slide7.xml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16T20:45:15.025">
    <p:pos x="6000" y="0"/>
    <p:text>should i remove TW? as it's not in the later experiment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7-17T09:37:33.997">
    <p:pos x="1590" y="2747"/>
    <p:text>not doing anymore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7-16T20:44:50.190">
    <p:pos x="6000" y="0"/>
    <p:text>just wanna visualize a bit how our project like, will design it better later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7-16T20:55:38.857">
    <p:pos x="345" y="533"/>
    <p:text>not sure what to put here yet, might need some experiment pics and infos
im thinking to put:
- baseline numbers: trained Stanza parser vs. frontier-LLM direct-CoNLL-U prompting, per language
- full ablation matrix (3.1~3.5) across all 4 langs + per relation type error breakdown
- non-projectivity-related error analysis: does the incremental format fail more on non-projective trees?
- a short paragraph interpreting the pattern (which tool helped most &amp; for which language)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7-16T20:55:38.857">
    <p:pos x="345" y="533"/>
    <p:text>not sure what to put here yet, might need some experiment pics and infos
im thinking to put:
- baseline numbers: trained Stanza parser vs. frontier-LLM direct-CoNLL-U prompting, per language
- full ablation matrix (3.1~3.5) across all 4 langs + per relation type error breakdown
- non-projectivity-related error analysis: does the incremental format fail more on non-projective trees?
- a short paragraph interpreting the pattern (which tool helped most &amp; for which language)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542750cd3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g3f542750cd3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f542750cd3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3b4edf83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" name="Google Shape;36;g3f3b4edf83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f3b4edf83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542750cd3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f542750cd3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f542750cd3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542750cd3_0_1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542750cd3_0_1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f542750cd3_0_1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42750cd3_0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542750cd3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f542750cd3_0_2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42750cd3_0_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542750cd3_0_2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f542750cd3_0_2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542750cd3_0_2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542750cd3_0_2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542750cd3_0_2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42750cd3_0_3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542750cd3_0_3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542750cd3_0_3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3b4edf831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3b4edf831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3b4edf831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542750cd3_0_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542750cd3_0_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542750cd3_0_5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3b4edf831_0_3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3b4edf831_0_3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3b4edf831_0_3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3b4edf831_0_3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f3b4edf831_0_3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3b4edf831_0_3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3b597875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3b597875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3b597875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2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3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4.xml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5.xml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65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B40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22960" y="1828800"/>
            <a:ext cx="9601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Agentic Dependency Parsing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ADCE6"/>
              </a:buClr>
              <a:buSzPts val="3200"/>
              <a:buFont typeface="Cambria"/>
              <a:buNone/>
            </a:pPr>
            <a:r>
              <a:rPr lang="en-US" sz="3200">
                <a:solidFill>
                  <a:srgbClr val="CADCE6"/>
                </a:solidFill>
                <a:latin typeface="Calibri"/>
                <a:ea typeface="Calibri"/>
                <a:cs typeface="Calibri"/>
                <a:sym typeface="Calibri"/>
              </a:rPr>
              <a:t>in Low-Resource Settings</a:t>
            </a:r>
            <a:endParaRPr b="1" sz="4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720895" y="506273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Jan Raring,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Dang Nhat Quang</a:t>
            </a:r>
            <a:r>
              <a:rPr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Nikhila Gadge,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 Dai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What is &amp; Why should we care?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698325" y="1859957"/>
            <a:ext cx="540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What are dependency Trees</a:t>
            </a:r>
            <a:endParaRPr b="1"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698325" y="2599925"/>
            <a:ext cx="54006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Dependency parsing builds a tree </a:t>
            </a: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structure for a sentence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Resolves ambiguities in language processing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It shows how words are syntactically related by connecting each word to its head `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" name="Google Shape;28;p4"/>
          <p:cNvGrpSpPr/>
          <p:nvPr/>
        </p:nvGrpSpPr>
        <p:grpSpPr>
          <a:xfrm>
            <a:off x="655456" y="4068761"/>
            <a:ext cx="5932444" cy="2280215"/>
            <a:chOff x="698325" y="3686600"/>
            <a:chExt cx="5486400" cy="1469400"/>
          </a:xfrm>
        </p:grpSpPr>
        <p:sp>
          <p:nvSpPr>
            <p:cNvPr id="29" name="Google Shape;29;p4"/>
            <p:cNvSpPr/>
            <p:nvPr/>
          </p:nvSpPr>
          <p:spPr>
            <a:xfrm>
              <a:off x="698325" y="3686600"/>
              <a:ext cx="5486400" cy="1469400"/>
            </a:xfrm>
            <a:prstGeom prst="roundRect">
              <a:avLst>
                <a:gd fmla="val 2222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98850" lIns="98850" spcFirstLastPara="1" rIns="98850" wrap="square" tIns="9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698325" y="3686600"/>
              <a:ext cx="134400" cy="1469400"/>
            </a:xfrm>
            <a:prstGeom prst="roundRect">
              <a:avLst>
                <a:gd fmla="val 2222" name="adj"/>
              </a:avLst>
            </a:prstGeom>
            <a:solidFill>
              <a:srgbClr val="1E1B4B"/>
            </a:solidFill>
            <a:ln>
              <a:noFill/>
            </a:ln>
          </p:spPr>
          <p:txBody>
            <a:bodyPr anchorCtr="0" anchor="ctr" bIns="98850" lIns="98850" spcFirstLastPara="1" rIns="98850" wrap="square" tIns="98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" name="Google Shape;31;p4"/>
          <p:cNvSpPr txBox="1"/>
          <p:nvPr/>
        </p:nvSpPr>
        <p:spPr>
          <a:xfrm>
            <a:off x="973425" y="4315250"/>
            <a:ext cx="48504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r>
              <a:rPr b="1" i="0" lang="en-US" sz="1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machine translation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information extraction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Supports complex Applications: Q-A &amp; Voice </a:t>
            </a: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recognition</a:t>
            </a: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 systems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2550" y="582561"/>
            <a:ext cx="4765392" cy="5692874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7863850" y="6606500"/>
            <a:ext cx="4124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0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img source:</a:t>
            </a:r>
            <a:r>
              <a:rPr lang="en-US" sz="10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 https://www.instagram.com/analytics_vidhya/</a:t>
            </a:r>
            <a:endParaRPr sz="1000">
              <a:solidFill>
                <a:srgbClr val="EEF2F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The Bottleneck of Syntax Research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698325" y="1859957"/>
            <a:ext cx="540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Treebanks are essential</a:t>
            </a: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1" i="0" lang="en-US" sz="1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but building them is extremely </a:t>
            </a: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EXPENSIVE</a:t>
            </a:r>
            <a:r>
              <a:rPr b="1" i="0" lang="en-US" sz="1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!!</a:t>
            </a:r>
            <a:endParaRPr b="1"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698325" y="2599925"/>
            <a:ext cx="540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Dependency parsing builds a tree of head–dependent relations for every sentence, forming the indispensable backbone of syntax, grammar, and typology research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" name="Google Shape;43;p5"/>
          <p:cNvGrpSpPr/>
          <p:nvPr/>
        </p:nvGrpSpPr>
        <p:grpSpPr>
          <a:xfrm>
            <a:off x="655425" y="4068857"/>
            <a:ext cx="5486400" cy="2108883"/>
            <a:chOff x="698325" y="3686600"/>
            <a:chExt cx="5486400" cy="1469400"/>
          </a:xfrm>
        </p:grpSpPr>
        <p:sp>
          <p:nvSpPr>
            <p:cNvPr id="44" name="Google Shape;44;p5"/>
            <p:cNvSpPr/>
            <p:nvPr/>
          </p:nvSpPr>
          <p:spPr>
            <a:xfrm>
              <a:off x="698325" y="3686600"/>
              <a:ext cx="5486400" cy="1469400"/>
            </a:xfrm>
            <a:prstGeom prst="roundRect">
              <a:avLst>
                <a:gd fmla="val 2222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698325" y="3686600"/>
              <a:ext cx="134400" cy="1469400"/>
            </a:xfrm>
            <a:prstGeom prst="roundRect">
              <a:avLst>
                <a:gd fmla="val 2222" name="adj"/>
              </a:avLst>
            </a:prstGeom>
            <a:solidFill>
              <a:srgbClr val="1E1B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5"/>
          <p:cNvSpPr txBox="1"/>
          <p:nvPr/>
        </p:nvSpPr>
        <p:spPr>
          <a:xfrm>
            <a:off x="973425" y="4315250"/>
            <a:ext cx="48504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The Dilemma:</a:t>
            </a: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Manual annotation of syntax trees is slow. 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While high-resource languages leverage semi-automatic annotation tools, low-resource languages are left with nothing but raw manual labor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875" y="1926225"/>
            <a:ext cx="4187075" cy="26108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 txBox="1"/>
          <p:nvPr/>
        </p:nvSpPr>
        <p:spPr>
          <a:xfrm>
            <a:off x="9937113" y="6539600"/>
            <a:ext cx="2051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img source:</a:t>
            </a:r>
            <a:r>
              <a:rPr lang="en-US" sz="10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 universaldependencies.org</a:t>
            </a:r>
            <a:endParaRPr sz="1000">
              <a:solidFill>
                <a:srgbClr val="EEF2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The Resource Gap in Modern NLP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41770" y="1828800"/>
            <a:ext cx="5392500" cy="4423200"/>
          </a:xfrm>
          <a:prstGeom prst="roundRect">
            <a:avLst>
              <a:gd fmla="val 2222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261330" y="1828800"/>
            <a:ext cx="5347500" cy="2628900"/>
          </a:xfrm>
          <a:prstGeom prst="roundRect">
            <a:avLst>
              <a:gd fmla="val 2222" name="adj"/>
            </a:avLst>
          </a:prstGeom>
          <a:solidFill>
            <a:srgbClr val="F2F6E4"/>
          </a:solidFill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/>
        </p:nvSpPr>
        <p:spPr>
          <a:xfrm>
            <a:off x="944060" y="2187546"/>
            <a:ext cx="45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High-Resource </a:t>
            </a: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Languages</a:t>
            </a:r>
            <a:endParaRPr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914295" y="2694852"/>
            <a:ext cx="4749000" cy="23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●"/>
            </a:pPr>
            <a:r>
              <a:rPr b="1" i="0" lang="en-US" sz="15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Ready-to-use Tools:</a:t>
            </a:r>
            <a:r>
              <a:rPr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0" sz="1500" u="none" cap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Stanza, spaCy, and NLTK provide highly robust pre-trained supervised parsers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Plentiful Data:</a:t>
            </a: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Thousands of sentences of gold-standard labeled treebanks already exist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Accelerated Growth:</a:t>
            </a: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Pre-annotation speeds up further scaling effortlessly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6590345" y="2187546"/>
            <a:ext cx="450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r>
              <a:rPr b="1" i="0" lang="en-US" sz="18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-Resource </a:t>
            </a: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Languages</a:t>
            </a:r>
            <a:endParaRPr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6560580" y="2694852"/>
            <a:ext cx="47490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No Existing Parsers:</a:t>
            </a:r>
            <a:r>
              <a:rPr i="0" lang="en-US" sz="15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i="0" sz="1500" u="none" cap="none" strike="noStrike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0 trained parsers exist for minor or regional dialects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Expert Bottleneck:</a:t>
            </a: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Treebank construction relies completely on slow, expert linguistic labor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282557" y="4617075"/>
            <a:ext cx="5304300" cy="1571400"/>
          </a:xfrm>
          <a:prstGeom prst="roundRect">
            <a:avLst>
              <a:gd fmla="val 2222" name="adj"/>
            </a:avLst>
          </a:prstGeom>
          <a:noFill/>
          <a:ln cap="flat" cmpd="sng" w="19050">
            <a:solidFill>
              <a:srgbClr val="8CB40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 txBox="1"/>
          <p:nvPr/>
        </p:nvSpPr>
        <p:spPr>
          <a:xfrm>
            <a:off x="6370830" y="4681295"/>
            <a:ext cx="5128500" cy="14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Our Idea:</a:t>
            </a: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Skip training purpose-built neural nets entirely. </a:t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Can we equip a general-purpose LLM with the right tools to parse directly?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Research Questions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694850" y="1828800"/>
            <a:ext cx="11009400" cy="1195800"/>
          </a:xfrm>
          <a:prstGeom prst="roundRect">
            <a:avLst>
              <a:gd fmla="val 13315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1257900" y="1988100"/>
            <a:ext cx="9676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Can an LLM agent, equipped with adequate tools, function as a general-purpose dependency parser</a:t>
            </a:r>
            <a:r>
              <a:rPr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a.k.a.</a:t>
            </a:r>
            <a:r>
              <a:rPr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eliminating the need to train purpose-built neural networks for every new language?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 txBox="1"/>
          <p:nvPr/>
        </p:nvSpPr>
        <p:spPr>
          <a:xfrm>
            <a:off x="1257900" y="3231050"/>
            <a:ext cx="967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If the agent's tools (validity checking, retrieval, morphology, valency) generalize across languages, the same recipe could bootstrap treebanks anywhere UD-style data is scarce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Related Work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694850" y="1828800"/>
            <a:ext cx="11009400" cy="1195800"/>
          </a:xfrm>
          <a:prstGeom prst="roundRect">
            <a:avLst>
              <a:gd fmla="val 13315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 txBox="1"/>
          <p:nvPr/>
        </p:nvSpPr>
        <p:spPr>
          <a:xfrm>
            <a:off x="1257900" y="1988100"/>
            <a:ext cx="9676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Neural dependency parsers</a:t>
            </a:r>
            <a:r>
              <a:rPr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Stanza, spaCy, and NLTK train supervised models per language, accurate, but only where labeled treebanks already exist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694850" y="3316532"/>
            <a:ext cx="11009400" cy="1195800"/>
          </a:xfrm>
          <a:prstGeom prst="roundRect">
            <a:avLst>
              <a:gd fmla="val 13315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8"/>
          <p:cNvSpPr txBox="1"/>
          <p:nvPr/>
        </p:nvSpPr>
        <p:spPr>
          <a:xfrm>
            <a:off x="1257900" y="3366020"/>
            <a:ext cx="10095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Cross-lingual transfer</a:t>
            </a:r>
            <a:r>
              <a:rPr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33"/>
              </a:buClr>
              <a:buSzPts val="1250"/>
              <a:buFont typeface="Calibri"/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García-Ferrero transfers parsing knowledge from high to low-resource languages via shared representations, without training data in the target language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694850" y="4804260"/>
            <a:ext cx="11009400" cy="1195800"/>
          </a:xfrm>
          <a:prstGeom prst="roundRect">
            <a:avLst>
              <a:gd fmla="val 13315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89850" lIns="89850" spcFirstLastPara="1" rIns="89850" wrap="square" tIns="89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 txBox="1"/>
          <p:nvPr/>
        </p:nvSpPr>
        <p:spPr>
          <a:xfrm>
            <a:off x="1257900" y="4853760"/>
            <a:ext cx="96762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Our gap to fill</a:t>
            </a:r>
            <a:r>
              <a:rPr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No prior work tests whether an off-the-shelf LLM agent with retrieval, validity-checking, and lexical tools, and whether they can parse a language directly, with zero trained parser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 rot="5400000">
            <a:off x="696950" y="2227800"/>
            <a:ext cx="393600" cy="397800"/>
          </a:xfrm>
          <a:prstGeom prst="triangle">
            <a:avLst>
              <a:gd fmla="val 50000" name="adj"/>
            </a:avLst>
          </a:prstGeom>
          <a:solidFill>
            <a:srgbClr val="8CB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 rot="5400000">
            <a:off x="696950" y="3715532"/>
            <a:ext cx="393600" cy="397800"/>
          </a:xfrm>
          <a:prstGeom prst="triangle">
            <a:avLst>
              <a:gd fmla="val 50000" name="adj"/>
            </a:avLst>
          </a:prstGeom>
          <a:solidFill>
            <a:srgbClr val="8CB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"/>
          <p:cNvSpPr/>
          <p:nvPr/>
        </p:nvSpPr>
        <p:spPr>
          <a:xfrm rot="5400000">
            <a:off x="696950" y="5203260"/>
            <a:ext cx="393600" cy="397800"/>
          </a:xfrm>
          <a:prstGeom prst="triangle">
            <a:avLst>
              <a:gd fmla="val 50000" name="adj"/>
            </a:avLst>
          </a:prstGeom>
          <a:solidFill>
            <a:srgbClr val="8CB4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Data &amp; Experiment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Languages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4550" y="1646200"/>
            <a:ext cx="8224001" cy="40324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/>
          <p:nvPr/>
        </p:nvSpPr>
        <p:spPr>
          <a:xfrm>
            <a:off x="644185" y="1743173"/>
            <a:ext cx="24807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5 Universal Dependencies treebanks:</a:t>
            </a:r>
            <a:endParaRPr b="1"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Low Saxon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Marathi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Vietnamese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Taiwanese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English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0"/>
          <p:cNvGrpSpPr/>
          <p:nvPr/>
        </p:nvGrpSpPr>
        <p:grpSpPr>
          <a:xfrm>
            <a:off x="4349950" y="1904900"/>
            <a:ext cx="3513900" cy="2160000"/>
            <a:chOff x="652350" y="1904900"/>
            <a:chExt cx="3513900" cy="2160000"/>
          </a:xfrm>
        </p:grpSpPr>
        <p:sp>
          <p:nvSpPr>
            <p:cNvPr id="105" name="Google Shape;105;p10"/>
            <p:cNvSpPr/>
            <p:nvPr/>
          </p:nvSpPr>
          <p:spPr>
            <a:xfrm>
              <a:off x="652350" y="1904900"/>
              <a:ext cx="3513900" cy="2160000"/>
            </a:xfrm>
            <a:prstGeom prst="roundRect">
              <a:avLst>
                <a:gd fmla="val 2222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70250" lIns="70250" spcFirstLastPara="1" rIns="70250" wrap="square" tIns="70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5"/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803438" y="2068556"/>
              <a:ext cx="393600" cy="397800"/>
            </a:xfrm>
            <a:prstGeom prst="ellipse">
              <a:avLst/>
            </a:prstGeom>
            <a:solidFill>
              <a:srgbClr val="8CB4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0"/>
            <p:cNvSpPr txBox="1"/>
            <p:nvPr/>
          </p:nvSpPr>
          <p:spPr>
            <a:xfrm>
              <a:off x="862231" y="2059706"/>
              <a:ext cx="276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0"/>
            <p:cNvSpPr txBox="1"/>
            <p:nvPr/>
          </p:nvSpPr>
          <p:spPr>
            <a:xfrm>
              <a:off x="1343836" y="2128856"/>
              <a:ext cx="2575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1B4B"/>
                  </a:solidFill>
                  <a:latin typeface="Calibri"/>
                  <a:ea typeface="Calibri"/>
                  <a:cs typeface="Calibri"/>
                  <a:sym typeface="Calibri"/>
                </a:rPr>
                <a:t>Baselines</a:t>
              </a:r>
              <a:endParaRPr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0"/>
            <p:cNvSpPr txBox="1"/>
            <p:nvPr/>
          </p:nvSpPr>
          <p:spPr>
            <a:xfrm>
              <a:off x="892050" y="2669265"/>
              <a:ext cx="3034500" cy="102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280"/>
                </a:buClr>
                <a:buSzPts val="1500"/>
                <a:buFont typeface="Calibri"/>
                <a:buChar char="●"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Direct prompting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280"/>
                </a:buClr>
                <a:buSzPts val="1500"/>
                <a:buFont typeface="Calibri"/>
                <a:buChar char="●"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No tools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B7280"/>
                </a:buClr>
                <a:buSzPts val="1500"/>
                <a:buFont typeface="Calibri"/>
                <a:buChar char="●"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Measure UAS and parsing success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0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Data &amp; Experiment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10"/>
          <p:cNvGrpSpPr/>
          <p:nvPr/>
        </p:nvGrpSpPr>
        <p:grpSpPr>
          <a:xfrm>
            <a:off x="8047550" y="1904900"/>
            <a:ext cx="3513900" cy="2322865"/>
            <a:chOff x="652350" y="1904900"/>
            <a:chExt cx="3513900" cy="2322865"/>
          </a:xfrm>
        </p:grpSpPr>
        <p:sp>
          <p:nvSpPr>
            <p:cNvPr id="112" name="Google Shape;112;p10"/>
            <p:cNvSpPr/>
            <p:nvPr/>
          </p:nvSpPr>
          <p:spPr>
            <a:xfrm>
              <a:off x="652350" y="1904900"/>
              <a:ext cx="3513900" cy="2160000"/>
            </a:xfrm>
            <a:prstGeom prst="roundRect">
              <a:avLst>
                <a:gd fmla="val 2222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70250" lIns="70250" spcFirstLastPara="1" rIns="70250" wrap="square" tIns="70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5"/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803438" y="2068556"/>
              <a:ext cx="393600" cy="397800"/>
            </a:xfrm>
            <a:prstGeom prst="ellipse">
              <a:avLst/>
            </a:prstGeom>
            <a:solidFill>
              <a:srgbClr val="8CB4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0"/>
            <p:cNvSpPr txBox="1"/>
            <p:nvPr/>
          </p:nvSpPr>
          <p:spPr>
            <a:xfrm>
              <a:off x="862231" y="2059706"/>
              <a:ext cx="276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10"/>
            <p:cNvSpPr txBox="1"/>
            <p:nvPr/>
          </p:nvSpPr>
          <p:spPr>
            <a:xfrm>
              <a:off x="1343836" y="2128856"/>
              <a:ext cx="2575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1B4B"/>
                  </a:solidFill>
                  <a:latin typeface="Calibri"/>
                  <a:ea typeface="Calibri"/>
                  <a:cs typeface="Calibri"/>
                  <a:sym typeface="Calibri"/>
                </a:rPr>
                <a:t>Agentic Parsing</a:t>
              </a:r>
              <a:endParaRPr b="1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0"/>
            <p:cNvSpPr txBox="1"/>
            <p:nvPr/>
          </p:nvSpPr>
          <p:spPr>
            <a:xfrm>
              <a:off x="892050" y="2669265"/>
              <a:ext cx="3034500" cy="15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Build the tool-calling harness: 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🛠️ Morphology lookup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🛠️ Sentence retrieval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🛠️ BoW retrieval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🛠️ Tree validation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0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Project Pipeline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10"/>
          <p:cNvGrpSpPr/>
          <p:nvPr/>
        </p:nvGrpSpPr>
        <p:grpSpPr>
          <a:xfrm>
            <a:off x="6222150" y="4360975"/>
            <a:ext cx="3513900" cy="2160000"/>
            <a:chOff x="652350" y="1904900"/>
            <a:chExt cx="3513900" cy="2160000"/>
          </a:xfrm>
        </p:grpSpPr>
        <p:sp>
          <p:nvSpPr>
            <p:cNvPr id="119" name="Google Shape;119;p10"/>
            <p:cNvSpPr/>
            <p:nvPr/>
          </p:nvSpPr>
          <p:spPr>
            <a:xfrm>
              <a:off x="652350" y="1904900"/>
              <a:ext cx="3513900" cy="2160000"/>
            </a:xfrm>
            <a:prstGeom prst="roundRect">
              <a:avLst>
                <a:gd fmla="val 2222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70250" lIns="70250" spcFirstLastPara="1" rIns="70250" wrap="square" tIns="70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5"/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803438" y="2068556"/>
              <a:ext cx="393600" cy="397800"/>
            </a:xfrm>
            <a:prstGeom prst="ellipse">
              <a:avLst/>
            </a:prstGeom>
            <a:solidFill>
              <a:srgbClr val="8CB4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0"/>
            <p:cNvSpPr txBox="1"/>
            <p:nvPr/>
          </p:nvSpPr>
          <p:spPr>
            <a:xfrm>
              <a:off x="862231" y="2059706"/>
              <a:ext cx="276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0"/>
            <p:cNvSpPr txBox="1"/>
            <p:nvPr/>
          </p:nvSpPr>
          <p:spPr>
            <a:xfrm>
              <a:off x="1343836" y="2128856"/>
              <a:ext cx="2575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1B4B"/>
                  </a:solidFill>
                  <a:latin typeface="Calibri"/>
                  <a:ea typeface="Calibri"/>
                  <a:cs typeface="Calibri"/>
                  <a:sym typeface="Calibri"/>
                </a:rPr>
                <a:t>Evaluation</a:t>
              </a:r>
              <a:endParaRPr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0"/>
            <p:cNvSpPr txBox="1"/>
            <p:nvPr/>
          </p:nvSpPr>
          <p:spPr>
            <a:xfrm>
              <a:off x="892050" y="2669265"/>
              <a:ext cx="3034500" cy="102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Unlabeled</a:t>
              </a: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 Attachment Score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Parsing rate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Number of tokens generated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Number of tools called per input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0"/>
          <p:cNvGrpSpPr/>
          <p:nvPr/>
        </p:nvGrpSpPr>
        <p:grpSpPr>
          <a:xfrm>
            <a:off x="2524550" y="4360975"/>
            <a:ext cx="3513900" cy="2160000"/>
            <a:chOff x="652350" y="1904900"/>
            <a:chExt cx="3513900" cy="2160000"/>
          </a:xfrm>
        </p:grpSpPr>
        <p:sp>
          <p:nvSpPr>
            <p:cNvPr id="125" name="Google Shape;125;p10"/>
            <p:cNvSpPr/>
            <p:nvPr/>
          </p:nvSpPr>
          <p:spPr>
            <a:xfrm>
              <a:off x="652350" y="1904900"/>
              <a:ext cx="3513900" cy="2160000"/>
            </a:xfrm>
            <a:prstGeom prst="roundRect">
              <a:avLst>
                <a:gd fmla="val 2222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70250" lIns="70250" spcFirstLastPara="1" rIns="70250" wrap="square" tIns="70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5"/>
            </a:p>
          </p:txBody>
        </p:sp>
        <p:sp>
          <p:nvSpPr>
            <p:cNvPr id="126" name="Google Shape;126;p10"/>
            <p:cNvSpPr/>
            <p:nvPr/>
          </p:nvSpPr>
          <p:spPr>
            <a:xfrm>
              <a:off x="803438" y="2068556"/>
              <a:ext cx="393600" cy="397800"/>
            </a:xfrm>
            <a:prstGeom prst="ellipse">
              <a:avLst/>
            </a:prstGeom>
            <a:solidFill>
              <a:srgbClr val="8CB4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0"/>
            <p:cNvSpPr txBox="1"/>
            <p:nvPr/>
          </p:nvSpPr>
          <p:spPr>
            <a:xfrm>
              <a:off x="862231" y="2059706"/>
              <a:ext cx="276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0"/>
            <p:cNvSpPr txBox="1"/>
            <p:nvPr/>
          </p:nvSpPr>
          <p:spPr>
            <a:xfrm>
              <a:off x="1343836" y="2128856"/>
              <a:ext cx="2575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1B4B"/>
                  </a:solidFill>
                  <a:latin typeface="Calibri"/>
                  <a:ea typeface="Calibri"/>
                  <a:cs typeface="Calibri"/>
                  <a:sym typeface="Calibri"/>
                </a:rPr>
                <a:t>Without Tools</a:t>
              </a:r>
              <a:endParaRPr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10"/>
            <p:cNvSpPr txBox="1"/>
            <p:nvPr/>
          </p:nvSpPr>
          <p:spPr>
            <a:xfrm>
              <a:off x="892050" y="2669265"/>
              <a:ext cx="3034500" cy="49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The</a:t>
              </a: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 NLP pipeline was run without tool calling access</a:t>
              </a:r>
              <a:endParaRPr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p10"/>
          <p:cNvGrpSpPr/>
          <p:nvPr/>
        </p:nvGrpSpPr>
        <p:grpSpPr>
          <a:xfrm>
            <a:off x="652350" y="1904900"/>
            <a:ext cx="3513900" cy="2160000"/>
            <a:chOff x="652350" y="1904900"/>
            <a:chExt cx="3513900" cy="2160000"/>
          </a:xfrm>
        </p:grpSpPr>
        <p:sp>
          <p:nvSpPr>
            <p:cNvPr id="131" name="Google Shape;131;p10"/>
            <p:cNvSpPr/>
            <p:nvPr/>
          </p:nvSpPr>
          <p:spPr>
            <a:xfrm>
              <a:off x="652350" y="1904900"/>
              <a:ext cx="3513900" cy="2160000"/>
            </a:xfrm>
            <a:prstGeom prst="roundRect">
              <a:avLst>
                <a:gd fmla="val 2222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70250" lIns="70250" spcFirstLastPara="1" rIns="70250" wrap="square" tIns="70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5"/>
            </a:p>
          </p:txBody>
        </p:sp>
        <p:sp>
          <p:nvSpPr>
            <p:cNvPr id="132" name="Google Shape;132;p10"/>
            <p:cNvSpPr/>
            <p:nvPr/>
          </p:nvSpPr>
          <p:spPr>
            <a:xfrm>
              <a:off x="803438" y="2068556"/>
              <a:ext cx="393600" cy="397800"/>
            </a:xfrm>
            <a:prstGeom prst="ellipse">
              <a:avLst/>
            </a:prstGeom>
            <a:solidFill>
              <a:srgbClr val="8CB40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0"/>
            <p:cNvSpPr txBox="1"/>
            <p:nvPr/>
          </p:nvSpPr>
          <p:spPr>
            <a:xfrm>
              <a:off x="862231" y="2059706"/>
              <a:ext cx="276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1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0"/>
            <p:cNvSpPr txBox="1"/>
            <p:nvPr/>
          </p:nvSpPr>
          <p:spPr>
            <a:xfrm>
              <a:off x="1343836" y="2128856"/>
              <a:ext cx="25752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1B4B"/>
                  </a:solidFill>
                  <a:latin typeface="Calibri"/>
                  <a:ea typeface="Calibri"/>
                  <a:cs typeface="Calibri"/>
                  <a:sym typeface="Calibri"/>
                </a:rPr>
                <a:t>Data Audit</a:t>
              </a:r>
              <a:endParaRPr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0"/>
            <p:cNvSpPr txBox="1"/>
            <p:nvPr/>
          </p:nvSpPr>
          <p:spPr>
            <a:xfrm>
              <a:off x="892050" y="2669265"/>
              <a:ext cx="303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5B7280"/>
                  </a:solidFill>
                  <a:latin typeface="Calibri"/>
                  <a:ea typeface="Calibri"/>
                  <a:cs typeface="Calibri"/>
                  <a:sym typeface="Calibri"/>
                </a:rPr>
                <a:t>Download &amp; verify 4-5 UD treebanks, count sentences/tokens, and measure non-projectivity rates</a:t>
              </a:r>
              <a:endParaRPr sz="15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/>
          <p:nvPr/>
        </p:nvSpPr>
        <p:spPr>
          <a:xfrm>
            <a:off x="4678175" y="2967375"/>
            <a:ext cx="1555500" cy="15192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Data &amp; Experiment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Agentic Architecture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609925" y="1538400"/>
            <a:ext cx="85968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275" lIns="76575" spcFirstLastPara="1" rIns="76575" wrap="square" tIns="3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173"/>
              <a:buFont typeface="Calibri"/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The LLM parses by calling a small set of purpose-built tools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4678180" y="3892972"/>
            <a:ext cx="15555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275" lIns="76575" spcFirstLastPara="1" rIns="76575" wrap="square" tIns="3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7"/>
              <a:buFont typeface="Calibri"/>
              <a:buNone/>
            </a:pPr>
            <a:r>
              <a:rPr b="1" i="0" lang="en-US" sz="154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LLM AGENT</a:t>
            </a:r>
            <a:endParaRPr b="1" i="0" sz="154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795015" y="2460275"/>
            <a:ext cx="561900" cy="548700"/>
          </a:xfrm>
          <a:prstGeom prst="ellipse">
            <a:avLst/>
          </a:prstGeom>
          <a:solidFill>
            <a:srgbClr val="8CB40F"/>
          </a:solidFill>
          <a:ln>
            <a:noFill/>
          </a:ln>
        </p:spPr>
        <p:txBody>
          <a:bodyPr anchorCtr="0" anchor="ctr" bIns="85450" lIns="85450" spcFirstLastPara="1" rIns="85450" wrap="square" tIns="8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sp>
        <p:nvSpPr>
          <p:cNvPr id="147" name="Google Shape;147;p11"/>
          <p:cNvSpPr/>
          <p:nvPr/>
        </p:nvSpPr>
        <p:spPr>
          <a:xfrm>
            <a:off x="1581949" y="2299600"/>
            <a:ext cx="31575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275" lIns="76575" spcFirstLastPara="1" rIns="76575" wrap="square" tIns="3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D"/>
              </a:buClr>
              <a:buSzPts val="1047"/>
              <a:buFont typeface="Calibri"/>
              <a:buNone/>
            </a:pPr>
            <a:r>
              <a:rPr b="1" i="0" lang="en-US" sz="1500" u="none" cap="none" strike="noStrike">
                <a:solidFill>
                  <a:srgbClr val="0B2A3D"/>
                </a:solidFill>
                <a:latin typeface="Calibri"/>
                <a:ea typeface="Calibri"/>
                <a:cs typeface="Calibri"/>
                <a:sym typeface="Calibri"/>
              </a:rPr>
              <a:t>Validity Checker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1581950" y="2587450"/>
            <a:ext cx="27837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275" lIns="76575" spcFirstLastPara="1" rIns="76575" wrap="square" tIns="38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38"/>
              <a:buFont typeface="Calibri"/>
              <a:buNone/>
            </a:pPr>
            <a:r>
              <a:rPr b="0" i="0" lang="en-US" sz="1500" u="none" cap="none" strike="noStrike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Single root, connected, acyclic, valid indices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1520674" y="4657756"/>
            <a:ext cx="31575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275" lIns="76575" spcFirstLastPara="1" rIns="76575" wrap="square" tIns="3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D"/>
              </a:buClr>
              <a:buSzPts val="1047"/>
              <a:buFont typeface="Calibri"/>
              <a:buNone/>
            </a:pPr>
            <a:r>
              <a:rPr b="1" lang="en-US" sz="1500">
                <a:solidFill>
                  <a:srgbClr val="0B2A3D"/>
                </a:solidFill>
                <a:latin typeface="Calibri"/>
                <a:ea typeface="Calibri"/>
                <a:cs typeface="Calibri"/>
                <a:sym typeface="Calibri"/>
              </a:rPr>
              <a:t>Morphology Lookup</a:t>
            </a:r>
            <a:endParaRPr b="1" sz="1500">
              <a:solidFill>
                <a:srgbClr val="0B2A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1520675" y="4945597"/>
            <a:ext cx="2783700" cy="8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275" lIns="76575" spcFirstLastPara="1" rIns="76575" wrap="square" tIns="3827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38"/>
              <a:buFont typeface="Calibri"/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Returns frequency counts of LEMMA, UPOS, FEATS for every token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/>
          <p:nvPr/>
        </p:nvSpPr>
        <p:spPr>
          <a:xfrm>
            <a:off x="8650774" y="1669600"/>
            <a:ext cx="31575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275" lIns="76575" spcFirstLastPara="1" rIns="76575" wrap="square" tIns="3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D"/>
              </a:buClr>
              <a:buSzPts val="1047"/>
              <a:buFont typeface="Calibri"/>
              <a:buNone/>
            </a:pPr>
            <a:r>
              <a:rPr b="1" lang="en-US" sz="1500">
                <a:solidFill>
                  <a:srgbClr val="0B2A3D"/>
                </a:solidFill>
                <a:latin typeface="Calibri"/>
                <a:ea typeface="Calibri"/>
                <a:cs typeface="Calibri"/>
                <a:sym typeface="Calibri"/>
              </a:rPr>
              <a:t>Sentence Form/ BoW Retrieval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8650775" y="1957450"/>
            <a:ext cx="27837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275" lIns="76575" spcFirstLastPara="1" rIns="76575" wrap="square" tIns="38275">
            <a:noAutofit/>
          </a:bodyPr>
          <a:lstStyle/>
          <a:p>
            <a:pPr indent="-3238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Surface-form / POS n-gram similarity from train data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838"/>
              <a:buFont typeface="Calibri"/>
              <a:buNone/>
            </a:pPr>
            <a:r>
              <a:t/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1"/>
          <p:cNvSpPr/>
          <p:nvPr/>
        </p:nvSpPr>
        <p:spPr>
          <a:xfrm>
            <a:off x="8923874" y="4230375"/>
            <a:ext cx="31575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275" lIns="76575" spcFirstLastPara="1" rIns="76575" wrap="square" tIns="38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B2A3D"/>
              </a:buClr>
              <a:buSzPts val="1047"/>
              <a:buFont typeface="Calibri"/>
              <a:buNone/>
            </a:pPr>
            <a:r>
              <a:rPr b="1" lang="en-US" sz="1500">
                <a:solidFill>
                  <a:srgbClr val="0B2A3D"/>
                </a:solidFill>
                <a:latin typeface="Calibri"/>
                <a:ea typeface="Calibri"/>
                <a:cs typeface="Calibri"/>
                <a:sym typeface="Calibri"/>
              </a:rPr>
              <a:t>BoW Retrieval</a:t>
            </a:r>
            <a:endParaRPr b="1" sz="1500">
              <a:solidFill>
                <a:srgbClr val="0B2A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1"/>
          <p:cNvSpPr/>
          <p:nvPr/>
        </p:nvSpPr>
        <p:spPr>
          <a:xfrm>
            <a:off x="8923875" y="4518225"/>
            <a:ext cx="27837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275" lIns="76575" spcFirstLastPara="1" rIns="76575" wrap="square" tIns="3827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BoW overlap + length similarity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1"/>
          <p:cNvSpPr/>
          <p:nvPr/>
        </p:nvSpPr>
        <p:spPr>
          <a:xfrm>
            <a:off x="795015" y="4599525"/>
            <a:ext cx="561900" cy="548700"/>
          </a:xfrm>
          <a:prstGeom prst="ellipse">
            <a:avLst/>
          </a:prstGeom>
          <a:solidFill>
            <a:srgbClr val="8CB40F"/>
          </a:solidFill>
          <a:ln>
            <a:noFill/>
          </a:ln>
        </p:spPr>
        <p:txBody>
          <a:bodyPr anchorCtr="0" anchor="ctr" bIns="85450" lIns="85450" spcFirstLastPara="1" rIns="85450" wrap="square" tIns="8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sp>
        <p:nvSpPr>
          <p:cNvPr id="156" name="Google Shape;156;p11"/>
          <p:cNvSpPr/>
          <p:nvPr/>
        </p:nvSpPr>
        <p:spPr>
          <a:xfrm>
            <a:off x="7863840" y="1827977"/>
            <a:ext cx="561900" cy="548700"/>
          </a:xfrm>
          <a:prstGeom prst="ellipse">
            <a:avLst/>
          </a:prstGeom>
          <a:solidFill>
            <a:srgbClr val="8CB40F"/>
          </a:solidFill>
          <a:ln>
            <a:noFill/>
          </a:ln>
        </p:spPr>
        <p:txBody>
          <a:bodyPr anchorCtr="0" anchor="ctr" bIns="85450" lIns="85450" spcFirstLastPara="1" rIns="85450" wrap="square" tIns="8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sp>
        <p:nvSpPr>
          <p:cNvPr id="157" name="Google Shape;157;p11"/>
          <p:cNvSpPr/>
          <p:nvPr/>
        </p:nvSpPr>
        <p:spPr>
          <a:xfrm>
            <a:off x="8198215" y="4371552"/>
            <a:ext cx="561900" cy="548700"/>
          </a:xfrm>
          <a:prstGeom prst="ellipse">
            <a:avLst/>
          </a:prstGeom>
          <a:solidFill>
            <a:srgbClr val="F2F6E4"/>
          </a:solidFill>
          <a:ln>
            <a:noFill/>
          </a:ln>
        </p:spPr>
        <p:txBody>
          <a:bodyPr anchorCtr="0" anchor="ctr" bIns="85450" lIns="85450" spcFirstLastPara="1" rIns="85450" wrap="square" tIns="85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9"/>
          </a:p>
        </p:txBody>
      </p:sp>
      <p:cxnSp>
        <p:nvCxnSpPr>
          <p:cNvPr id="158" name="Google Shape;158;p11"/>
          <p:cNvCxnSpPr>
            <a:stCxn id="146" idx="5"/>
            <a:endCxn id="141" idx="2"/>
          </p:cNvCxnSpPr>
          <p:nvPr/>
        </p:nvCxnSpPr>
        <p:spPr>
          <a:xfrm flipH="1" rot="-5400000">
            <a:off x="2577227" y="1626020"/>
            <a:ext cx="798300" cy="3403500"/>
          </a:xfrm>
          <a:prstGeom prst="curvedConnector2">
            <a:avLst/>
          </a:prstGeom>
          <a:noFill/>
          <a:ln cap="flat" cmpd="sng" w="19050">
            <a:solidFill>
              <a:srgbClr val="8CB40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1"/>
          <p:cNvCxnSpPr>
            <a:stCxn id="155" idx="0"/>
            <a:endCxn id="145" idx="1"/>
          </p:cNvCxnSpPr>
          <p:nvPr/>
        </p:nvCxnSpPr>
        <p:spPr>
          <a:xfrm rot="-5400000">
            <a:off x="2593665" y="2515125"/>
            <a:ext cx="566700" cy="3602100"/>
          </a:xfrm>
          <a:prstGeom prst="curvedConnector2">
            <a:avLst/>
          </a:prstGeom>
          <a:noFill/>
          <a:ln cap="flat" cmpd="sng" w="19050">
            <a:solidFill>
              <a:srgbClr val="8CB40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1"/>
          <p:cNvCxnSpPr>
            <a:stCxn id="145" idx="3"/>
            <a:endCxn id="157" idx="2"/>
          </p:cNvCxnSpPr>
          <p:nvPr/>
        </p:nvCxnSpPr>
        <p:spPr>
          <a:xfrm>
            <a:off x="6233680" y="4032922"/>
            <a:ext cx="1964400" cy="612900"/>
          </a:xfrm>
          <a:prstGeom prst="curvedConnector3">
            <a:avLst>
              <a:gd fmla="val 50003" name="adj1"/>
            </a:avLst>
          </a:prstGeom>
          <a:noFill/>
          <a:ln cap="flat" cmpd="sng" w="19050">
            <a:solidFill>
              <a:srgbClr val="8CB40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1"/>
          <p:cNvCxnSpPr>
            <a:stCxn id="141" idx="7"/>
            <a:endCxn id="156" idx="3"/>
          </p:cNvCxnSpPr>
          <p:nvPr/>
        </p:nvCxnSpPr>
        <p:spPr>
          <a:xfrm rot="-5400000">
            <a:off x="6529377" y="1772957"/>
            <a:ext cx="893400" cy="1940400"/>
          </a:xfrm>
          <a:prstGeom prst="curvedConnector3">
            <a:avLst>
              <a:gd fmla="val 57962" name="adj1"/>
            </a:avLst>
          </a:prstGeom>
          <a:noFill/>
          <a:ln cap="flat" cmpd="sng" w="19050">
            <a:solidFill>
              <a:srgbClr val="8CB40F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LLM Models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4892824" y="1071741"/>
            <a:ext cx="1882587" cy="647095"/>
          </a:xfrm>
          <a:prstGeom prst="roundRect">
            <a:avLst>
              <a:gd fmla="val 50000" name="adj"/>
            </a:avLst>
          </a:prstGeom>
          <a:solidFill>
            <a:srgbClr val="0942A1"/>
          </a:solidFill>
          <a:ln>
            <a:noFill/>
          </a:ln>
        </p:spPr>
        <p:txBody>
          <a:bodyPr anchorCtr="0" anchor="ctr" bIns="133700" lIns="133700" spcFirstLastPara="1" rIns="133700" wrap="square" tIns="13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</a:t>
            </a:r>
            <a:endParaRPr sz="2084">
              <a:solidFill>
                <a:srgbClr val="FFFFFF"/>
              </a:solidFill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7059554" y="2387208"/>
            <a:ext cx="1882587" cy="647095"/>
          </a:xfrm>
          <a:prstGeom prst="roundRect">
            <a:avLst>
              <a:gd fmla="val 50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133700" lIns="133700" spcFirstLastPara="1" rIns="133700" wrap="square" tIns="13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Qwen 3.5-9B-GGUF </a:t>
            </a:r>
            <a:endParaRPr sz="2084">
              <a:solidFill>
                <a:schemeClr val="dk1"/>
              </a:solidFill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2726094" y="2387208"/>
            <a:ext cx="1882587" cy="647095"/>
          </a:xfrm>
          <a:prstGeom prst="roundRect">
            <a:avLst>
              <a:gd fmla="val 50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133700" lIns="133700" spcFirstLastPara="1" rIns="133700" wrap="square" tIns="133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6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Qwen 3.5-9B </a:t>
            </a:r>
            <a:endParaRPr sz="2084">
              <a:solidFill>
                <a:schemeClr val="dk1"/>
              </a:solidFill>
            </a:endParaRPr>
          </a:p>
        </p:txBody>
      </p:sp>
      <p:cxnSp>
        <p:nvCxnSpPr>
          <p:cNvPr id="172" name="Google Shape;172;p12"/>
          <p:cNvCxnSpPr>
            <a:stCxn id="169" idx="2"/>
            <a:endCxn id="170" idx="0"/>
          </p:cNvCxnSpPr>
          <p:nvPr/>
        </p:nvCxnSpPr>
        <p:spPr>
          <a:xfrm flipH="1" rot="-5400000">
            <a:off x="6583218" y="969737"/>
            <a:ext cx="668400" cy="2166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12"/>
          <p:cNvCxnSpPr>
            <a:stCxn id="171" idx="0"/>
            <a:endCxn id="169" idx="2"/>
          </p:cNvCxnSpPr>
          <p:nvPr/>
        </p:nvCxnSpPr>
        <p:spPr>
          <a:xfrm rot="-5400000">
            <a:off x="4416488" y="969708"/>
            <a:ext cx="668400" cy="2166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2"/>
          <p:cNvSpPr txBox="1"/>
          <p:nvPr/>
        </p:nvSpPr>
        <p:spPr>
          <a:xfrm>
            <a:off x="392150" y="3620450"/>
            <a:ext cx="44247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3560"/>
                </a:solidFill>
              </a:rPr>
              <a:t>Model Card: Qwen/Qwen3.5-9B</a:t>
            </a:r>
            <a:endParaRPr sz="1500">
              <a:solidFill>
                <a:srgbClr val="003560"/>
              </a:solidFill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3560"/>
                </a:solidFill>
              </a:rPr>
              <a:t>Quantization: BitsAndBytes 4-bit NF4 </a:t>
            </a:r>
            <a:endParaRPr sz="1500">
              <a:solidFill>
                <a:srgbClr val="003560"/>
              </a:solidFill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3560"/>
                </a:solidFill>
              </a:rPr>
              <a:t>Architechture: </a:t>
            </a:r>
            <a:r>
              <a:rPr lang="en-US" sz="1500">
                <a:solidFill>
                  <a:srgbClr val="003560"/>
                </a:solidFill>
              </a:rPr>
              <a:t>Transformers </a:t>
            </a:r>
            <a:endParaRPr sz="1500">
              <a:solidFill>
                <a:srgbClr val="003560"/>
              </a:solidFill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3560"/>
                </a:solidFill>
              </a:rPr>
              <a:t>Hardware: NVIDIA A100 GPU </a:t>
            </a:r>
            <a:endParaRPr sz="1500">
              <a:solidFill>
                <a:srgbClr val="003560"/>
              </a:solidFill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3560"/>
                </a:solidFill>
              </a:rPr>
              <a:t> </a:t>
            </a:r>
            <a:endParaRPr sz="1500">
              <a:solidFill>
                <a:srgbClr val="003560"/>
              </a:solidFill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6670900" y="3518400"/>
            <a:ext cx="50232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003560"/>
                </a:solidFill>
              </a:rPr>
              <a:t>Model Card: unsloth/Qwen3.5-9B-GGUF </a:t>
            </a:r>
            <a:endParaRPr sz="1500">
              <a:solidFill>
                <a:srgbClr val="00356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003560"/>
                </a:solidFill>
              </a:rPr>
              <a:t>Quantization: GGUF Q4_K_M </a:t>
            </a:r>
            <a:endParaRPr sz="1500">
              <a:solidFill>
                <a:srgbClr val="00356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003560"/>
                </a:solidFill>
              </a:rPr>
              <a:t>Architechture: llama.cpp </a:t>
            </a:r>
            <a:endParaRPr sz="1500">
              <a:solidFill>
                <a:srgbClr val="00356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003560"/>
                </a:solidFill>
              </a:rPr>
              <a:t>Hardware: Intel Core Ultra 7 H155 </a:t>
            </a:r>
            <a:endParaRPr sz="1500">
              <a:solidFill>
                <a:srgbClr val="00356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500">
                <a:solidFill>
                  <a:srgbClr val="003560"/>
                </a:solidFill>
              </a:rPr>
              <a:t> </a:t>
            </a:r>
            <a:endParaRPr sz="1500">
              <a:solidFill>
                <a:srgbClr val="00356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356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698325" y="1859957"/>
            <a:ext cx="540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Tools turn scarce evidence into structured support</a:t>
            </a:r>
            <a:endParaRPr b="1"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698325" y="2599925"/>
            <a:ext cx="54006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On an average the tools support increased the </a:t>
            </a: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Unlabeled Attachment Score by </a:t>
            </a:r>
            <a:r>
              <a:rPr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+3%</a:t>
            </a:r>
            <a:endParaRPr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On an average the Parsing success improved with the tools</a:t>
            </a:r>
            <a:endParaRPr sz="1500">
              <a:solidFill>
                <a:srgbClr val="75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757280"/>
                </a:solidFill>
                <a:latin typeface="Calibri"/>
                <a:ea typeface="Calibri"/>
                <a:cs typeface="Calibri"/>
                <a:sym typeface="Calibri"/>
              </a:rPr>
              <a:t>English benefited the most with +15% UAS score increase</a:t>
            </a:r>
            <a:endParaRPr sz="1500">
              <a:solidFill>
                <a:srgbClr val="75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75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9937113" y="6539600"/>
            <a:ext cx="2051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img generated for reference</a:t>
            </a:r>
            <a:endParaRPr sz="1000">
              <a:solidFill>
                <a:srgbClr val="EEF2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1325" y="1547830"/>
            <a:ext cx="5788275" cy="3648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 txBox="1"/>
          <p:nvPr/>
        </p:nvSpPr>
        <p:spPr>
          <a:xfrm>
            <a:off x="9937113" y="6539600"/>
            <a:ext cx="2051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img generated for reference</a:t>
            </a:r>
            <a:endParaRPr sz="1000">
              <a:solidFill>
                <a:srgbClr val="EEF2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3225" y="1719526"/>
            <a:ext cx="5506375" cy="33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175" y="1755860"/>
            <a:ext cx="5506375" cy="334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 txBox="1"/>
          <p:nvPr/>
        </p:nvSpPr>
        <p:spPr>
          <a:xfrm>
            <a:off x="548650" y="5241900"/>
            <a:ext cx="11270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Most tools were called for Vietnamese while English called the least number of tools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Validate </a:t>
            </a: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Dependencies</a:t>
            </a: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 tool was called the most number of times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Morphology Statistics</a:t>
            </a: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 was called the most for lower resource </a:t>
            </a: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languages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 txBox="1"/>
          <p:nvPr/>
        </p:nvSpPr>
        <p:spPr>
          <a:xfrm>
            <a:off x="669825" y="1772975"/>
            <a:ext cx="5400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On average, having tools at its disposal, the model used much fewer tokens to give a final output, thereby increasing the chance of producing any output at all.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The downside to the faster output generation seems to be increased sloppiness when it comes to generating structurally valid trees.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Considering English and Low Saxon, seemingly contradictory to the above observations, it looks like having the option to use auxiliary tools noticeably increased the accuracy on longer, more complicated sentences.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9937113" y="6539600"/>
            <a:ext cx="2051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img generated for reference</a:t>
            </a:r>
            <a:endParaRPr sz="1000">
              <a:solidFill>
                <a:srgbClr val="EEF2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"/>
          <p:cNvSpPr/>
          <p:nvPr/>
        </p:nvSpPr>
        <p:spPr>
          <a:xfrm>
            <a:off x="548657" y="411475"/>
            <a:ext cx="1961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1" sz="1500">
              <a:solidFill>
                <a:srgbClr val="8CB4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548640" y="846730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Limitations and Future Scope</a:t>
            </a:r>
            <a:endParaRPr i="0" sz="3000" u="none" cap="none" strike="noStrike">
              <a:solidFill>
                <a:srgbClr val="1E1B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698325" y="2599925"/>
            <a:ext cx="5400600" cy="19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5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Ablation Experiment could be conducted to know the performance and preference of tools individually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Experimentation with more tools and models with greater multilingual support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B7280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Prompt Engineering and Hyperparameters adjustment like Temperature, Top_p, max_new_tokens</a:t>
            </a:r>
            <a:endParaRPr sz="1500">
              <a:solidFill>
                <a:srgbClr val="5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9937113" y="6539600"/>
            <a:ext cx="2051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5B7280"/>
                </a:solidFill>
                <a:latin typeface="Calibri"/>
                <a:ea typeface="Calibri"/>
                <a:cs typeface="Calibri"/>
                <a:sym typeface="Calibri"/>
              </a:rPr>
              <a:t>img generated for reference</a:t>
            </a:r>
            <a:endParaRPr sz="1000">
              <a:solidFill>
                <a:srgbClr val="EEF2F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365D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 for your attention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822960" y="36576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B40F"/>
              </a:buClr>
              <a:buSzPts val="1800"/>
              <a:buFont typeface="Calibri"/>
              <a:buNone/>
            </a:pPr>
            <a:r>
              <a:rPr b="1" i="1" lang="en-US" sz="1800" u="none" cap="none" strike="noStrike">
                <a:solidFill>
                  <a:srgbClr val="8CB40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 welcome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